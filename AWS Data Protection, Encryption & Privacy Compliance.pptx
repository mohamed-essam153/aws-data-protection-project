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built an audit-ready data protection lab on AWS in four weeks, using only fake data. Every claim in this talk has evidence in our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not about turning services on. It is about showing, with evidence, that each control works — the way an auditor would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works every week in parallel: for example, Ammar creates the KMS keys early so S3 uses SSE-KMS from day one, and Mohamed builds the demo app skeleton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 request path is protected by WAF, Cognito and TLS. The data stores are all encrypted with customer managed KMS keys. Underneath, Macie, GuardDuty, Access Analyzer and CloudTrail feed EventBridge, which emails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drives everything after it. The proof: an upload asking for the wrong encryption is denied, and the analytics role reads internal data through the access point but is denied on restricted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Envelope encryption: the KMS key never leaves KMS; it encrypts data keys that encrypt the data. Separation of duties is in the key policy. Disabling the demo key shows crypto-shredding: no key, no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hop is labelled with its protection. The Lambda returns no personal data and logs only a safe line. Secret values are never shown — only their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alone cannot catch people pasting card numbers into a harmless export. Macie did. Remind the committee that GuardDuty findings are samples,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scripts/demo-commands.sh live. Get a fresh Cognito token just before presenting. Keep screenshots as backup if the network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controls in the full matrix, each linked to an evidence file in the repo. Least privilege is partial because every lab member has AdministratorAccess — an accepted, documented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is likelihood times impact, each 1 to 5. The full register with all eight risks, owners and residual risk is in week-4-compliance/risk-register.xlsx.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what we did not do is part of being audit-ready. Every design-only control is labelled that way in the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Offer to open any evidence file live from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486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E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56321"/>
            <a:ext cx="10566400" cy="3888879"/>
          </a:xfrm>
          <a:prstGeom prst="rect">
            <a:avLst/>
          </a:prstGeom>
          <a:noFill/>
          <a:ln/>
        </p:spPr>
        <p:txBody>
          <a:bodyPr wrap="square" lIns="0" tIns="0" rIns="0" bIns="0" rtlCol="0" anchor="t"/>
          <a:lstStyle>
            <a:lvl1pPr algn="l" indent="0" marL="0">
              <a:lnSpc>
                <a:spcPct val="140000"/>
              </a:lnSpc>
              <a:buNone/>
              <a:defRPr lang="en-US" sz="1600" dirty="0">
                <a:solidFill>
                  <a:srgbClr val="0F1E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486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E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56321"/>
            <a:ext cx="10566400" cy="3888879"/>
          </a:xfrm>
          <a:prstGeom prst="rect">
            <a:avLst/>
          </a:prstGeom>
          <a:noFill/>
          <a:ln/>
        </p:spPr>
        <p:txBody>
          <a:bodyPr wrap="square" lIns="0" tIns="0" rIns="0" bIns="0" rtlCol="0" anchor="t"/>
          <a:lstStyle>
            <a:lvl1pPr algn="l" indent="0" marL="0">
              <a:lnSpc>
                <a:spcPct val="140000"/>
              </a:lnSpc>
              <a:buNone/>
              <a:defRPr lang="en-US" sz="1600" dirty="0">
                <a:solidFill>
                  <a:srgbClr val="0F1E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9A2E"/>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9A2E"/>
                </a:solidFill>
                <a:latin typeface="JetBrains Mono" pitchFamily="49" charset="0"/>
                <a:ea typeface="JetBrains Mono" pitchFamily="49" charset="-122"/>
                <a:cs typeface="JetBrains Mono" pitchFamily="49" charset="-120"/>
              </a:rPr>
              <a:t>DEPI GRADUATION PROJECT · CLOUD SECURITY</a:t>
            </a:r>
            <a:endParaRPr lang="en-US" sz="1400" dirty="0"/>
          </a:p>
        </p:txBody>
      </p:sp>
      <p:sp>
        <p:nvSpPr>
          <p:cNvPr id="4" name="Text 2"/>
          <p:cNvSpPr/>
          <p:nvPr>
            <p:ph type="title"/>
          </p:nvPr>
        </p:nvSpPr>
        <p:spPr>
          <a:xfrm>
            <a:off x="812800" y="2047379"/>
            <a:ext cx="10883392" cy="226556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3F5F1"/>
                </a:solidFill>
                <a:latin typeface="IBM Plex Sans" pitchFamily="34" charset="0"/>
                <a:ea typeface="IBM Plex Sans" pitchFamily="34" charset="-122"/>
                <a:cs typeface="IBM Plex Sans" pitchFamily="34" charset="-120"/>
              </a:rPr>
              <a:t>AWS Data Protection,</a:t>
            </a:r>
            <a:endParaRPr lang="en-US" sz="5600" dirty="0"/>
          </a:p>
          <a:p>
            <a:pPr algn="l" indent="0" marL="0">
              <a:lnSpc>
                <a:spcPts val="5880"/>
              </a:lnSpc>
              <a:buNone/>
            </a:pPr>
            <a:r>
              <a:rPr lang="en-US" sz="5600" b="1" i="0" dirty="0">
                <a:solidFill>
                  <a:srgbClr val="F3F5F1"/>
                </a:solidFill>
                <a:latin typeface="IBM Plex Sans" pitchFamily="34" charset="0"/>
                <a:ea typeface="IBM Plex Sans" pitchFamily="34" charset="-122"/>
                <a:cs typeface="IBM Plex Sans" pitchFamily="34" charset="-120"/>
              </a:rPr>
              <a:t>Encryption &amp; Privacy Compliance</a:t>
            </a:r>
            <a:endParaRPr lang="en-US" sz="5600" dirty="0"/>
          </a:p>
        </p:txBody>
      </p:sp>
      <p:sp>
        <p:nvSpPr>
          <p:cNvPr id="5" name="Text 3"/>
          <p:cNvSpPr/>
          <p:nvPr/>
        </p:nvSpPr>
        <p:spPr>
          <a:xfrm>
            <a:off x="812800" y="44907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7C3D3"/>
                </a:solidFill>
                <a:latin typeface="IBM Plex Sans" pitchFamily="34" charset="0"/>
                <a:ea typeface="IBM Plex Sans" pitchFamily="34" charset="-122"/>
                <a:cs typeface="IBM Plex Sans" pitchFamily="34" charset="-120"/>
              </a:rPr>
              <a:t>Classify it, encrypt it, guard the path, find what leaks — and prove each control with evidence.</a:t>
            </a:r>
            <a:endParaRPr lang="en-US" sz="1800" dirty="0"/>
          </a:p>
        </p:txBody>
      </p:sp>
      <p:sp>
        <p:nvSpPr>
          <p:cNvPr id="6" name="Text 4"/>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3D3"/>
                </a:solidFill>
                <a:latin typeface="IBM Plex Sans" pitchFamily="34" charset="0"/>
                <a:ea typeface="IBM Plex Sans" pitchFamily="34" charset="-122"/>
                <a:cs typeface="IBM Plex Sans" pitchFamily="34" charset="-120"/>
              </a:rPr>
              <a:t>Ahmed Ali · Ahmed Shaaban · Ammar · Mohamed Essam Elbastawisy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THE GOAL</a:t>
            </a:r>
            <a:endParaRPr lang="en-US" sz="1300" dirty="0"/>
          </a:p>
        </p:txBody>
      </p:sp>
      <p:sp>
        <p:nvSpPr>
          <p:cNvPr id="3" name="Text 1"/>
          <p:cNvSpPr/>
          <p:nvPr>
            <p:ph type="title"/>
          </p:nvPr>
        </p:nvSpPr>
        <p:spPr>
          <a:xfrm>
            <a:off x="812800" y="139948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Protect data at every stage — and be able to prove it to an auditor</a:t>
            </a:r>
            <a:endParaRPr lang="en-US" sz="3600" dirty="0"/>
          </a:p>
        </p:txBody>
      </p:sp>
      <p:sp>
        <p:nvSpPr>
          <p:cNvPr id="4" name="Shape 2"/>
          <p:cNvSpPr/>
          <p:nvPr/>
        </p:nvSpPr>
        <p:spPr>
          <a:xfrm>
            <a:off x="815975" y="2763937"/>
            <a:ext cx="2482850" cy="2342753"/>
          </a:xfrm>
          <a:prstGeom prst="roundRect">
            <a:avLst>
              <a:gd name="adj" fmla="val 4201"/>
            </a:avLst>
          </a:prstGeom>
          <a:solidFill>
            <a:srgbClr val="FFFFFF"/>
          </a:solidFill>
          <a:ln w="6350">
            <a:solidFill>
              <a:srgbClr val="D8DDE4"/>
            </a:solidFill>
            <a:prstDash val="solid"/>
          </a:ln>
        </p:spPr>
      </p:sp>
      <p:pic>
        <p:nvPicPr>
          <p:cNvPr id="5" name="Image 0" descr="Database">    </p:cNvPr>
          <p:cNvPicPr>
            <a:picLocks noChangeAspect="1"/>
          </p:cNvPicPr>
          <p:nvPr/>
        </p:nvPicPr>
        <p:blipFill>
          <a:blip r:embed="rId1"/>
          <a:srcRect l="0" r="0" t="0" b="0"/>
          <a:stretch/>
        </p:blipFill>
        <p:spPr>
          <a:xfrm>
            <a:off x="1073150" y="3021112"/>
            <a:ext cx="355600" cy="355600"/>
          </a:xfrm>
          <a:prstGeom prst="rect">
            <a:avLst/>
          </a:prstGeom>
        </p:spPr>
      </p:pic>
      <p:sp>
        <p:nvSpPr>
          <p:cNvPr id="6" name="Text 3"/>
          <p:cNvSpPr/>
          <p:nvPr/>
        </p:nvSpPr>
        <p:spPr>
          <a:xfrm>
            <a:off x="1073150" y="3478312"/>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33"/>
                </a:solidFill>
                <a:latin typeface="IBM Plex Sans" pitchFamily="34" charset="0"/>
                <a:ea typeface="IBM Plex Sans" pitchFamily="34" charset="-122"/>
                <a:cs typeface="IBM Plex Sans" pitchFamily="34" charset="-120"/>
              </a:rPr>
              <a:t>At rest</a:t>
            </a:r>
            <a:endParaRPr lang="en-US" sz="1800" dirty="0"/>
          </a:p>
        </p:txBody>
      </p:sp>
      <p:sp>
        <p:nvSpPr>
          <p:cNvPr id="7" name="Text 4"/>
          <p:cNvSpPr/>
          <p:nvPr/>
        </p:nvSpPr>
        <p:spPr>
          <a:xfrm>
            <a:off x="1073150" y="3854152"/>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S3, RDS, DynamoDB, EBS and Glacier encrypted with our own KMS keys.</a:t>
            </a:r>
            <a:endParaRPr lang="en-US" sz="1400" dirty="0"/>
          </a:p>
        </p:txBody>
      </p:sp>
      <p:sp>
        <p:nvSpPr>
          <p:cNvPr id="8" name="Shape 5"/>
          <p:cNvSpPr/>
          <p:nvPr/>
        </p:nvSpPr>
        <p:spPr>
          <a:xfrm>
            <a:off x="3508375" y="2763937"/>
            <a:ext cx="2482850" cy="2342753"/>
          </a:xfrm>
          <a:prstGeom prst="roundRect">
            <a:avLst>
              <a:gd name="adj" fmla="val 4201"/>
            </a:avLst>
          </a:prstGeom>
          <a:solidFill>
            <a:srgbClr val="FFFFFF"/>
          </a:solidFill>
          <a:ln w="6350">
            <a:solidFill>
              <a:srgbClr val="D8DDE4"/>
            </a:solidFill>
            <a:prstDash val="solid"/>
          </a:ln>
        </p:spPr>
      </p:sp>
      <p:pic>
        <p:nvPicPr>
          <p:cNvPr id="9" name="Image 1" descr="Lock">    </p:cNvPr>
          <p:cNvPicPr>
            <a:picLocks noChangeAspect="1"/>
          </p:cNvPicPr>
          <p:nvPr/>
        </p:nvPicPr>
        <p:blipFill>
          <a:blip r:embed="rId2"/>
          <a:srcRect l="0" r="0" t="0" b="0"/>
          <a:stretch/>
        </p:blipFill>
        <p:spPr>
          <a:xfrm>
            <a:off x="3765550" y="3021112"/>
            <a:ext cx="355600" cy="355600"/>
          </a:xfrm>
          <a:prstGeom prst="rect">
            <a:avLst/>
          </a:prstGeom>
        </p:spPr>
      </p:pic>
      <p:sp>
        <p:nvSpPr>
          <p:cNvPr id="10" name="Text 6"/>
          <p:cNvSpPr/>
          <p:nvPr/>
        </p:nvSpPr>
        <p:spPr>
          <a:xfrm>
            <a:off x="3765550" y="3478312"/>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33"/>
                </a:solidFill>
                <a:latin typeface="IBM Plex Sans" pitchFamily="34" charset="0"/>
                <a:ea typeface="IBM Plex Sans" pitchFamily="34" charset="-122"/>
                <a:cs typeface="IBM Plex Sans" pitchFamily="34" charset="-120"/>
              </a:rPr>
              <a:t>In transit</a:t>
            </a:r>
            <a:endParaRPr lang="en-US" sz="1800" dirty="0"/>
          </a:p>
        </p:txBody>
      </p:sp>
      <p:sp>
        <p:nvSpPr>
          <p:cNvPr id="11" name="Text 7"/>
          <p:cNvSpPr/>
          <p:nvPr/>
        </p:nvSpPr>
        <p:spPr>
          <a:xfrm>
            <a:off x="3765550" y="3854152"/>
            <a:ext cx="202755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TLS 1.2+ everywhere, secrets never in code, a protected API.</a:t>
            </a:r>
            <a:endParaRPr lang="en-US" sz="1400" dirty="0"/>
          </a:p>
        </p:txBody>
      </p:sp>
      <p:sp>
        <p:nvSpPr>
          <p:cNvPr id="12" name="Shape 8"/>
          <p:cNvSpPr/>
          <p:nvPr/>
        </p:nvSpPr>
        <p:spPr>
          <a:xfrm>
            <a:off x="6200775" y="2763937"/>
            <a:ext cx="2482850" cy="2342753"/>
          </a:xfrm>
          <a:prstGeom prst="roundRect">
            <a:avLst>
              <a:gd name="adj" fmla="val 4201"/>
            </a:avLst>
          </a:prstGeom>
          <a:solidFill>
            <a:srgbClr val="FFFFFF"/>
          </a:solidFill>
          <a:ln w="6350">
            <a:solidFill>
              <a:srgbClr val="D8DDE4"/>
            </a:solidFill>
            <a:prstDash val="solid"/>
          </a:ln>
        </p:spPr>
      </p:sp>
      <p:pic>
        <p:nvPicPr>
          <p:cNvPr id="13" name="Image 2" descr="Search">    </p:cNvPr>
          <p:cNvPicPr>
            <a:picLocks noChangeAspect="1"/>
          </p:cNvPicPr>
          <p:nvPr/>
        </p:nvPicPr>
        <p:blipFill>
          <a:blip r:embed="rId3"/>
          <a:srcRect l="0" r="0" t="0" b="0"/>
          <a:stretch/>
        </p:blipFill>
        <p:spPr>
          <a:xfrm>
            <a:off x="6457950" y="3021112"/>
            <a:ext cx="355600" cy="355600"/>
          </a:xfrm>
          <a:prstGeom prst="rect">
            <a:avLst/>
          </a:prstGeom>
        </p:spPr>
      </p:pic>
      <p:sp>
        <p:nvSpPr>
          <p:cNvPr id="14" name="Text 9"/>
          <p:cNvSpPr/>
          <p:nvPr/>
        </p:nvSpPr>
        <p:spPr>
          <a:xfrm>
            <a:off x="6457950" y="3478312"/>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33"/>
                </a:solidFill>
                <a:latin typeface="IBM Plex Sans" pitchFamily="34" charset="0"/>
                <a:ea typeface="IBM Plex Sans" pitchFamily="34" charset="-122"/>
                <a:cs typeface="IBM Plex Sans" pitchFamily="34" charset="-120"/>
              </a:rPr>
              <a:t>In use</a:t>
            </a:r>
            <a:endParaRPr lang="en-US" sz="1800" dirty="0"/>
          </a:p>
        </p:txBody>
      </p:sp>
      <p:sp>
        <p:nvSpPr>
          <p:cNvPr id="15" name="Text 10"/>
          <p:cNvSpPr/>
          <p:nvPr/>
        </p:nvSpPr>
        <p:spPr>
          <a:xfrm>
            <a:off x="6457950" y="3854152"/>
            <a:ext cx="202755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Macie finds misplaced data; GuardDuty flags suspicious access.</a:t>
            </a:r>
            <a:endParaRPr lang="en-US" sz="1400" dirty="0"/>
          </a:p>
        </p:txBody>
      </p:sp>
      <p:sp>
        <p:nvSpPr>
          <p:cNvPr id="16" name="Shape 11"/>
          <p:cNvSpPr/>
          <p:nvPr/>
        </p:nvSpPr>
        <p:spPr>
          <a:xfrm>
            <a:off x="8893175" y="2763937"/>
            <a:ext cx="2482850" cy="2342753"/>
          </a:xfrm>
          <a:prstGeom prst="roundRect">
            <a:avLst>
              <a:gd name="adj" fmla="val 4201"/>
            </a:avLst>
          </a:prstGeom>
          <a:solidFill>
            <a:srgbClr val="FFFFFF"/>
          </a:solidFill>
          <a:ln w="6350">
            <a:solidFill>
              <a:srgbClr val="D8DDE4"/>
            </a:solidFill>
            <a:prstDash val="solid"/>
          </a:ln>
        </p:spPr>
      </p:sp>
      <p:pic>
        <p:nvPicPr>
          <p:cNvPr id="17" name="Image 3" descr="Verified">    </p:cNvPr>
          <p:cNvPicPr>
            <a:picLocks noChangeAspect="1"/>
          </p:cNvPicPr>
          <p:nvPr/>
        </p:nvPicPr>
        <p:blipFill>
          <a:blip r:embed="rId4"/>
          <a:srcRect l="0" r="0" t="0" b="0"/>
          <a:stretch/>
        </p:blipFill>
        <p:spPr>
          <a:xfrm>
            <a:off x="9150350" y="3021112"/>
            <a:ext cx="355600" cy="355600"/>
          </a:xfrm>
          <a:prstGeom prst="rect">
            <a:avLst/>
          </a:prstGeom>
        </p:spPr>
      </p:pic>
      <p:sp>
        <p:nvSpPr>
          <p:cNvPr id="18" name="Text 12"/>
          <p:cNvSpPr/>
          <p:nvPr/>
        </p:nvSpPr>
        <p:spPr>
          <a:xfrm>
            <a:off x="9150350" y="3478312"/>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33"/>
                </a:solidFill>
                <a:latin typeface="IBM Plex Sans" pitchFamily="34" charset="0"/>
                <a:ea typeface="IBM Plex Sans" pitchFamily="34" charset="-122"/>
                <a:cs typeface="IBM Plex Sans" pitchFamily="34" charset="-120"/>
              </a:rPr>
              <a:t>Proven</a:t>
            </a:r>
            <a:endParaRPr lang="en-US" sz="1800" dirty="0"/>
          </a:p>
        </p:txBody>
      </p:sp>
      <p:sp>
        <p:nvSpPr>
          <p:cNvPr id="19" name="Text 13"/>
          <p:cNvSpPr/>
          <p:nvPr/>
        </p:nvSpPr>
        <p:spPr>
          <a:xfrm>
            <a:off x="9150350" y="3854152"/>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21 deliverables mapped to GDPR, HIPAA and PCI DSS, each with evidence.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TEAM &amp; PLAN</a:t>
            </a:r>
            <a:endParaRPr lang="en-US" sz="1300" dirty="0"/>
          </a:p>
        </p:txBody>
      </p:sp>
      <p:sp>
        <p:nvSpPr>
          <p:cNvPr id="3" name="Text 1"/>
          <p:cNvSpPr/>
          <p:nvPr>
            <p:ph type="title"/>
          </p:nvPr>
        </p:nvSpPr>
        <p:spPr>
          <a:xfrm>
            <a:off x="812800" y="13486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Four owners, four weeks, one shared account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69021"/>
          <a:ext cx="10553700" cy="2315766"/>
        </p:xfrm>
        <a:graphic>
          <a:graphicData uri="http://schemas.openxmlformats.org/drawingml/2006/table">
            <a:tbl>
              <a:tblPr/>
              <a:tblGrid>
                <a:gridCol w="1266444"/>
                <a:gridCol w="2743962"/>
                <a:gridCol w="6543294"/>
              </a:tblGrid>
              <a:tr h="385961">
                <a:tc>
                  <a:txBody>
                    <a:bodyPr/>
                    <a:lstStyle/>
                    <a:p>
                      <a:pPr indent="0" marL="0">
                        <a:lnSpc>
                          <a:spcPts val="1960"/>
                        </a:lnSpc>
                        <a:buNone/>
                      </a:pPr>
                      <a:r>
                        <a:rPr lang="en-US" sz="1400" b="1" dirty="0">
                          <a:solidFill>
                            <a:srgbClr val="F3F5F1"/>
                          </a:solidFill>
                          <a:latin typeface="IBM Plex Sans" pitchFamily="34" charset="0"/>
                          <a:ea typeface="IBM Plex Sans" pitchFamily="34" charset="-122"/>
                          <a:cs typeface="IBM Plex Sans" pitchFamily="34" charset="-120"/>
                        </a:rPr>
                        <a:t>Week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960"/>
                        </a:lnSpc>
                        <a:buNone/>
                      </a:pPr>
                      <a:r>
                        <a:rPr lang="en-US" sz="1400" b="1" dirty="0">
                          <a:solidFill>
                            <a:srgbClr val="F3F5F1"/>
                          </a:solidFill>
                          <a:latin typeface="IBM Plex Sans" pitchFamily="34" charset="0"/>
                          <a:ea typeface="IBM Plex Sans" pitchFamily="34" charset="-122"/>
                          <a:cs typeface="IBM Plex Sans" pitchFamily="34" charset="-120"/>
                        </a:rPr>
                        <a:t>Owner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960"/>
                        </a:lnSpc>
                        <a:buNone/>
                      </a:pPr>
                      <a:r>
                        <a:rPr lang="en-US" sz="1400" b="1" dirty="0">
                          <a:solidFill>
                            <a:srgbClr val="F3F5F1"/>
                          </a:solidFill>
                          <a:latin typeface="IBM Plex Sans" pitchFamily="34" charset="0"/>
                          <a:ea typeface="IBM Plex Sans" pitchFamily="34" charset="-122"/>
                          <a:cs typeface="IBM Plex Sans" pitchFamily="34" charset="-120"/>
                        </a:rPr>
                        <a:t>Focus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r>
              <a:tr h="385961">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Kickoff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Ahmed Ali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Account hardening, Identity Center + MFA, budget, CloudTrail, repo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Ahmed Shaaban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Data lifecycle, classification, S3 secure baseline, access review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85961">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Ammar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KMS key hierarchy, key policies, rotation, encrypted data stores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Mohamed Essam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Demo API, TLS/ACM, Secrets Manager, Cognito, WAF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85961">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Ahmed Ali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960"/>
                        </a:lnSpc>
                        <a:buNone/>
                      </a:pPr>
                      <a:r>
                        <a:rPr lang="en-US" sz="1400" dirty="0">
                          <a:solidFill>
                            <a:srgbClr val="0F1E33"/>
                          </a:solidFill>
                          <a:latin typeface="IBM Plex Sans" pitchFamily="34" charset="0"/>
                          <a:ea typeface="IBM Plex Sans" pitchFamily="34" charset="-122"/>
                          <a:cs typeface="IBM Plex Sans" pitchFamily="34" charset="-120"/>
                        </a:rPr>
                        <a:t>Macie, GuardDuty, DLP plan, compliance matrix, risk register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E33"/>
                </a:solidFill>
                <a:latin typeface="IBM Plex Sans" pitchFamily="34" charset="0"/>
                <a:ea typeface="IBM Plex Sans" pitchFamily="34" charset="-122"/>
                <a:cs typeface="IBM Plex Sans" pitchFamily="34" charset="-120"/>
              </a:rPr>
              <a:t>Architecture — one region, layered controls</a:t>
            </a:r>
            <a:endParaRPr lang="en-US" sz="2800" dirty="0"/>
          </a:p>
        </p:txBody>
      </p:sp>
      <p:pic>
        <p:nvPicPr>
          <p:cNvPr id="3" name="Image 0" descr="Architecture: client through WAF and API Gateway to Lambda; data stores encrypted by KMS; Macie, GuardDuty, CloudTrail feeding EventBridge and SNS">    </p:cNvPr>
          <p:cNvPicPr>
            <a:picLocks noChangeAspect="1"/>
          </p:cNvPicPr>
          <p:nvPr/>
        </p:nvPicPr>
        <p:blipFill>
          <a:blip r:embed="rId1"/>
          <a:srcRect l="-18925" r="-18925" t="0" b="0"/>
          <a:stretch/>
        </p:blipFill>
        <p:spPr>
          <a:xfrm>
            <a:off x="812800" y="1203920"/>
            <a:ext cx="10566400" cy="482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WEEK 1 · AHMED SHAABAN</a:t>
            </a:r>
            <a:endParaRPr lang="en-US" sz="1300" dirty="0"/>
          </a:p>
        </p:txBody>
      </p:sp>
      <p:sp>
        <p:nvSpPr>
          <p:cNvPr id="3" name="Text 1"/>
          <p:cNvSpPr/>
          <p:nvPr>
            <p:ph type="title"/>
          </p:nvPr>
        </p:nvSpPr>
        <p:spPr>
          <a:xfrm>
            <a:off x="812800" y="13486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Classify first, then lock down S3</a:t>
            </a:r>
            <a:endParaRPr lang="en-US" sz="3600" dirty="0"/>
          </a:p>
        </p:txBody>
      </p:sp>
      <p:sp>
        <p:nvSpPr>
          <p:cNvPr id="4" name="Text 2"/>
          <p:cNvSpPr/>
          <p:nvPr/>
        </p:nvSpPr>
        <p:spPr>
          <a:xfrm>
            <a:off x="883920" y="2156321"/>
            <a:ext cx="5781548" cy="2025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4 levels: Public · Internal · Confidential · Restricted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Prefix + DataClassification tag on every object</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Block Public Access (account + bucket), ACLs off</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Versioning, SSE-KMS, server access logs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Bucket policy: HTTPS only, TLS ≥ 1.2, KMS only</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Access point scoped to internal/ for analytics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Lifecycle: Restricted kept 180 days, then deleted</a:t>
            </a:r>
            <a:endParaRPr lang="en-US" sz="1500" dirty="0"/>
          </a:p>
        </p:txBody>
      </p:sp>
      <p:sp>
        <p:nvSpPr>
          <p:cNvPr id="5" name="Shape 3"/>
          <p:cNvSpPr/>
          <p:nvPr/>
        </p:nvSpPr>
        <p:spPr>
          <a:xfrm>
            <a:off x="6807200" y="2156321"/>
            <a:ext cx="4572000" cy="2651720"/>
          </a:xfrm>
          <a:prstGeom prst="roundRect">
            <a:avLst>
              <a:gd name="adj" fmla="val 3831"/>
            </a:avLst>
          </a:prstGeom>
          <a:solidFill>
            <a:srgbClr val="0F1E33"/>
          </a:solidFill>
          <a:ln/>
        </p:spPr>
      </p:sp>
      <p:sp>
        <p:nvSpPr>
          <p:cNvPr id="6" name="Text 4"/>
          <p:cNvSpPr/>
          <p:nvPr/>
        </p:nvSpPr>
        <p:spPr>
          <a:xfrm>
            <a:off x="7061200" y="2410321"/>
            <a:ext cx="41859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9A2E"/>
                </a:solidFill>
                <a:latin typeface="IBM Plex Sans" pitchFamily="34" charset="0"/>
                <a:ea typeface="IBM Plex Sans" pitchFamily="34" charset="-122"/>
                <a:cs typeface="IBM Plex Sans" pitchFamily="34" charset="-120"/>
              </a:rPr>
              <a:t>Proof</a:t>
            </a:r>
            <a:endParaRPr lang="en-US" sz="1400" dirty="0"/>
          </a:p>
        </p:txBody>
      </p:sp>
      <p:sp>
        <p:nvSpPr>
          <p:cNvPr id="7" name="Text 5"/>
          <p:cNvSpPr/>
          <p:nvPr/>
        </p:nvSpPr>
        <p:spPr>
          <a:xfrm>
            <a:off x="7061200" y="2725241"/>
            <a:ext cx="4185920" cy="1854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aws s3 cp products.csv s3://…/public/ --sse AES256</a:t>
            </a:r>
            <a:endParaRPr lang="en-US" sz="1200" dirty="0"/>
          </a:p>
          <a:p>
            <a:pPr algn="l" indent="0" marL="0">
              <a:lnSpc>
                <a:spcPts val="1800"/>
              </a:lnSpc>
              <a:buNone/>
            </a:pPr>
            <a:r>
              <a:rPr lang="en-US" sz="1200" dirty="0">
                <a:solidFill>
                  <a:srgbClr val="F29A2E"/>
                </a:solidFill>
                <a:latin typeface="JetBrains Mono" pitchFamily="49" charset="0"/>
                <a:ea typeface="JetBrains Mono" pitchFamily="49" charset="-122"/>
                <a:cs typeface="JetBrains Mono" pitchFamily="49" charset="-120"/>
              </a:rPr>
              <a:t>→ AccessDenied</a:t>
            </a:r>
            <a:endParaRPr lang="en-US" sz="1200" dirty="0"/>
          </a:p>
          <a:p>
            <a:pPr algn="l" indent="0" marL="0">
              <a:lnSpc>
                <a:spcPts val="1800"/>
              </a:lnSpc>
              <a:buNone/>
            </a:pP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get-object internal/staff-directory.csv</a:t>
            </a:r>
            <a:endParaRPr lang="en-US" sz="1200" dirty="0"/>
          </a:p>
          <a:p>
            <a:pPr algn="l" indent="0" marL="0">
              <a:lnSpc>
                <a:spcPts val="1800"/>
              </a:lnSpc>
              <a:buNone/>
            </a:pPr>
            <a:r>
              <a:rPr lang="en-US" sz="1200" dirty="0">
                <a:solidFill>
                  <a:srgbClr val="8FD3B6"/>
                </a:solidFill>
                <a:latin typeface="JetBrains Mono" pitchFamily="49" charset="0"/>
                <a:ea typeface="JetBrains Mono" pitchFamily="49" charset="-122"/>
                <a:cs typeface="JetBrains Mono" pitchFamily="49" charset="-120"/>
              </a:rPr>
              <a:t>→ OK (via access point)</a:t>
            </a: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get-object restricted/payments.csv</a:t>
            </a:r>
            <a:endParaRPr lang="en-US" sz="1200" dirty="0"/>
          </a:p>
          <a:p>
            <a:pPr algn="l" indent="0" marL="0">
              <a:lnSpc>
                <a:spcPts val="1800"/>
              </a:lnSpc>
              <a:buNone/>
            </a:pPr>
            <a:r>
              <a:rPr lang="en-US" sz="1200" dirty="0">
                <a:solidFill>
                  <a:srgbClr val="F29A2E"/>
                </a:solidFill>
                <a:latin typeface="JetBrains Mono" pitchFamily="49" charset="0"/>
                <a:ea typeface="JetBrains Mono" pitchFamily="49" charset="-122"/>
                <a:cs typeface="JetBrains Mono" pitchFamily="49" charset="-120"/>
              </a:rPr>
              <a:t>→ AccessDenied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WEEK 2 · AMMAR</a:t>
            </a:r>
            <a:endParaRPr lang="en-US" sz="1300" dirty="0"/>
          </a:p>
        </p:txBody>
      </p:sp>
      <p:sp>
        <p:nvSpPr>
          <p:cNvPr id="3" name="Text 1"/>
          <p:cNvSpPr/>
          <p:nvPr>
            <p:ph type="title"/>
          </p:nvPr>
        </p:nvSpPr>
        <p:spPr>
          <a:xfrm>
            <a:off x="812800" y="13486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Our keys, our rules: AWS KMS</a:t>
            </a:r>
            <a:endParaRPr lang="en-US" sz="3600" dirty="0"/>
          </a:p>
        </p:txBody>
      </p:sp>
      <p:sp>
        <p:nvSpPr>
          <p:cNvPr id="4" name="Text 2"/>
          <p:cNvSpPr/>
          <p:nvPr/>
        </p:nvSpPr>
        <p:spPr>
          <a:xfrm>
            <a:off x="883920" y="2156321"/>
            <a:ext cx="5781548" cy="2025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5 customer managed keys: s3 · db · ebs · secrets · demo</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Key admins can't decrypt; key users can't manage</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Automatic rotation every 365 days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Grants: temporary access, created then revoked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S3, RDS, DynamoDB, EBS, Glacier IR all encrypted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Alarm email on DisableKey / PutKeyPolicy</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CloudHSM compared, not provisioned (cost)</a:t>
            </a:r>
            <a:endParaRPr lang="en-US" sz="1500" dirty="0"/>
          </a:p>
        </p:txBody>
      </p:sp>
      <p:sp>
        <p:nvSpPr>
          <p:cNvPr id="5" name="Shape 3"/>
          <p:cNvSpPr/>
          <p:nvPr/>
        </p:nvSpPr>
        <p:spPr>
          <a:xfrm>
            <a:off x="6807200" y="2156321"/>
            <a:ext cx="4572000" cy="2423120"/>
          </a:xfrm>
          <a:prstGeom prst="roundRect">
            <a:avLst>
              <a:gd name="adj" fmla="val 4193"/>
            </a:avLst>
          </a:prstGeom>
          <a:solidFill>
            <a:srgbClr val="0F1E33"/>
          </a:solidFill>
          <a:ln/>
        </p:spPr>
      </p:sp>
      <p:sp>
        <p:nvSpPr>
          <p:cNvPr id="6" name="Text 4"/>
          <p:cNvSpPr/>
          <p:nvPr/>
        </p:nvSpPr>
        <p:spPr>
          <a:xfrm>
            <a:off x="7061200" y="2410321"/>
            <a:ext cx="41859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9A2E"/>
                </a:solidFill>
                <a:latin typeface="IBM Plex Sans" pitchFamily="34" charset="0"/>
                <a:ea typeface="IBM Plex Sans" pitchFamily="34" charset="-122"/>
                <a:cs typeface="IBM Plex Sans" pitchFamily="34" charset="-120"/>
              </a:rPr>
              <a:t>Proof</a:t>
            </a:r>
            <a:endParaRPr lang="en-US" sz="1400" dirty="0"/>
          </a:p>
        </p:txBody>
      </p:sp>
      <p:sp>
        <p:nvSpPr>
          <p:cNvPr id="7" name="Text 5"/>
          <p:cNvSpPr/>
          <p:nvPr/>
        </p:nvSpPr>
        <p:spPr>
          <a:xfrm>
            <a:off x="7061200" y="2725241"/>
            <a:ext cx="4185920" cy="1625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aws s3api head-object …payments.csv</a:t>
            </a:r>
            <a:endParaRPr lang="en-US" sz="1200" dirty="0"/>
          </a:p>
          <a:p>
            <a:pPr algn="l" indent="0" marL="0">
              <a:lnSpc>
                <a:spcPts val="1800"/>
              </a:lnSpc>
              <a:buNone/>
            </a:pPr>
            <a:r>
              <a:rPr lang="en-US" sz="1200" dirty="0">
                <a:solidFill>
                  <a:srgbClr val="8FD3B6"/>
                </a:solidFill>
                <a:latin typeface="JetBrains Mono" pitchFamily="49" charset="0"/>
                <a:ea typeface="JetBrains Mono" pitchFamily="49" charset="-122"/>
                <a:cs typeface="JetBrains Mono" pitchFamily="49" charset="-120"/>
              </a:rPr>
              <a:t>"ServerSideEncryption": "aws:kms"</a:t>
            </a:r>
            <a:endParaRPr lang="en-US" sz="1200" dirty="0"/>
          </a:p>
          <a:p>
            <a:pPr algn="l" indent="0" marL="0">
              <a:lnSpc>
                <a:spcPts val="1800"/>
              </a:lnSpc>
              <a:buNone/>
            </a:pPr>
            <a:r>
              <a:rPr lang="en-US" sz="1200" dirty="0">
                <a:solidFill>
                  <a:srgbClr val="8FD3B6"/>
                </a:solidFill>
                <a:latin typeface="JetBrains Mono" pitchFamily="49" charset="0"/>
                <a:ea typeface="JetBrains Mono" pitchFamily="49" charset="-122"/>
                <a:cs typeface="JetBrains Mono" pitchFamily="49" charset="-120"/>
              </a:rPr>
              <a:t>"BucketKeyEnabled": true</a:t>
            </a:r>
            <a:endParaRPr lang="en-US" sz="1200" dirty="0"/>
          </a:p>
          <a:p>
            <a:pPr algn="l" indent="0" marL="0">
              <a:lnSpc>
                <a:spcPts val="1800"/>
              </a:lnSpc>
              <a:buNone/>
            </a:pP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aws kms disable-key (demo key)</a:t>
            </a: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aws kms decrypt …</a:t>
            </a:r>
            <a:endParaRPr lang="en-US" sz="1200" dirty="0"/>
          </a:p>
          <a:p>
            <a:pPr algn="l" indent="0" marL="0">
              <a:lnSpc>
                <a:spcPts val="1800"/>
              </a:lnSpc>
              <a:buNone/>
            </a:pPr>
            <a:r>
              <a:rPr lang="en-US" sz="1200" dirty="0">
                <a:solidFill>
                  <a:srgbClr val="F29A2E"/>
                </a:solidFill>
                <a:latin typeface="JetBrains Mono" pitchFamily="49" charset="0"/>
                <a:ea typeface="JetBrains Mono" pitchFamily="49" charset="-122"/>
                <a:cs typeface="JetBrains Mono" pitchFamily="49" charset="-120"/>
              </a:rPr>
              <a:t>→ DisabledException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WEEK 3 · MOHAMED ESSAM</a:t>
            </a:r>
            <a:endParaRPr lang="en-US" sz="1300" dirty="0"/>
          </a:p>
        </p:txBody>
      </p:sp>
      <p:sp>
        <p:nvSpPr>
          <p:cNvPr id="3" name="Text 1"/>
          <p:cNvSpPr/>
          <p:nvPr>
            <p:ph type="title"/>
          </p:nvPr>
        </p:nvSpPr>
        <p:spPr>
          <a:xfrm>
            <a:off x="812800" y="13486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Guard the path: TLS, secrets, API</a:t>
            </a:r>
            <a:endParaRPr lang="en-US" sz="3600" dirty="0"/>
          </a:p>
        </p:txBody>
      </p:sp>
      <p:sp>
        <p:nvSpPr>
          <p:cNvPr id="4" name="Text 2"/>
          <p:cNvSpPr/>
          <p:nvPr/>
        </p:nvSpPr>
        <p:spPr>
          <a:xfrm>
            <a:off x="883920" y="2156321"/>
            <a:ext cx="5781548" cy="2025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Demo API: API Gateway → Lambda → DynamoDB / S3</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TLS 1.2 policy; HTTP and TLS 1.1 refused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Secrets Manager + SecureString, KMS-encrypted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Rotation: AWSCURRENT / AWSPREVIOUS versions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Cognito authorizer, throttling 5 rps, AWS WAF</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Lambda role: one table, one secret, one prefix</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RDS forces SSL; VPN / IPsec designed</a:t>
            </a:r>
            <a:endParaRPr lang="en-US" sz="1500" dirty="0"/>
          </a:p>
        </p:txBody>
      </p:sp>
      <p:sp>
        <p:nvSpPr>
          <p:cNvPr id="5" name="Shape 3"/>
          <p:cNvSpPr/>
          <p:nvPr/>
        </p:nvSpPr>
        <p:spPr>
          <a:xfrm>
            <a:off x="6807200" y="2156321"/>
            <a:ext cx="4572000" cy="2651720"/>
          </a:xfrm>
          <a:prstGeom prst="roundRect">
            <a:avLst>
              <a:gd name="adj" fmla="val 3831"/>
            </a:avLst>
          </a:prstGeom>
          <a:solidFill>
            <a:srgbClr val="0F1E33"/>
          </a:solidFill>
          <a:ln/>
        </p:spPr>
      </p:sp>
      <p:sp>
        <p:nvSpPr>
          <p:cNvPr id="6" name="Text 4"/>
          <p:cNvSpPr/>
          <p:nvPr/>
        </p:nvSpPr>
        <p:spPr>
          <a:xfrm>
            <a:off x="7061200" y="2410321"/>
            <a:ext cx="41859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9A2E"/>
                </a:solidFill>
                <a:latin typeface="IBM Plex Sans" pitchFamily="34" charset="0"/>
                <a:ea typeface="IBM Plex Sans" pitchFamily="34" charset="-122"/>
                <a:cs typeface="IBM Plex Sans" pitchFamily="34" charset="-120"/>
              </a:rPr>
              <a:t>Proof</a:t>
            </a:r>
            <a:endParaRPr lang="en-US" sz="1400" dirty="0"/>
          </a:p>
        </p:txBody>
      </p:sp>
      <p:sp>
        <p:nvSpPr>
          <p:cNvPr id="7" name="Text 5"/>
          <p:cNvSpPr/>
          <p:nvPr/>
        </p:nvSpPr>
        <p:spPr>
          <a:xfrm>
            <a:off x="7061200" y="2725241"/>
            <a:ext cx="4185920" cy="1854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openssl s_client -tls1_1 …</a:t>
            </a:r>
            <a:endParaRPr lang="en-US" sz="1200" dirty="0"/>
          </a:p>
          <a:p>
            <a:pPr algn="l" indent="0" marL="0">
              <a:lnSpc>
                <a:spcPts val="1800"/>
              </a:lnSpc>
              <a:buNone/>
            </a:pPr>
            <a:r>
              <a:rPr lang="en-US" sz="1200" dirty="0">
                <a:solidFill>
                  <a:srgbClr val="F29A2E"/>
                </a:solidFill>
                <a:latin typeface="JetBrains Mono" pitchFamily="49" charset="0"/>
                <a:ea typeface="JetBrains Mono" pitchFamily="49" charset="-122"/>
                <a:cs typeface="JetBrains Mono" pitchFamily="49" charset="-120"/>
              </a:rPr>
              <a:t>→ handshake failure</a:t>
            </a:r>
            <a:endParaRPr lang="en-US" sz="1200" dirty="0"/>
          </a:p>
          <a:p>
            <a:pPr algn="l" indent="0" marL="0">
              <a:lnSpc>
                <a:spcPts val="1800"/>
              </a:lnSpc>
              <a:buNone/>
            </a:pP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 list-secret-version-ids</a:t>
            </a:r>
            <a:endParaRPr lang="en-US" sz="1200" dirty="0"/>
          </a:p>
          <a:p>
            <a:pPr algn="l" indent="0" marL="0">
              <a:lnSpc>
                <a:spcPts val="1800"/>
              </a:lnSpc>
              <a:buNone/>
            </a:pPr>
            <a:r>
              <a:rPr lang="en-US" sz="1200" dirty="0">
                <a:solidFill>
                  <a:srgbClr val="8FD3B6"/>
                </a:solidFill>
                <a:latin typeface="JetBrains Mono" pitchFamily="49" charset="0"/>
                <a:ea typeface="JetBrains Mono" pitchFamily="49" charset="-122"/>
                <a:cs typeface="JetBrains Mono" pitchFamily="49" charset="-120"/>
              </a:rPr>
              <a:t>→ AWSCURRENT, AWSPREVIOUS</a:t>
            </a:r>
            <a:endParaRPr lang="en-US" sz="1200" dirty="0"/>
          </a:p>
          <a:p>
            <a:pPr algn="l" indent="0" marL="0">
              <a:lnSpc>
                <a:spcPts val="1800"/>
              </a:lnSpc>
              <a:buNone/>
            </a:pP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No secret in code, env vars,</a:t>
            </a:r>
            <a:endParaRPr lang="en-US" sz="1200" dirty="0"/>
          </a:p>
          <a:p>
            <a:pPr algn="l" indent="0" marL="0">
              <a:lnSpc>
                <a:spcPts val="1800"/>
              </a:lnSpc>
              <a:buNone/>
            </a:pPr>
            <a:r>
              <a:rPr lang="en-US" sz="1200" dirty="0">
                <a:solidFill>
                  <a:srgbClr val="F3F5F1"/>
                </a:solidFill>
                <a:latin typeface="JetBrains Mono" pitchFamily="49" charset="0"/>
                <a:ea typeface="JetBrains Mono" pitchFamily="49" charset="-122"/>
                <a:cs typeface="JetBrains Mono" pitchFamily="49" charset="-120"/>
              </a:rPr>
              <a:t>logs or the repo.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B5651D"/>
                </a:solidFill>
                <a:latin typeface="JetBrains Mono" pitchFamily="49" charset="0"/>
                <a:ea typeface="JetBrains Mono" pitchFamily="49" charset="-122"/>
                <a:cs typeface="JetBrains Mono" pitchFamily="49" charset="-120"/>
              </a:rPr>
              <a:t>WEEK 4 · AHMED ALI</a:t>
            </a:r>
            <a:endParaRPr lang="en-US" sz="1300" dirty="0"/>
          </a:p>
        </p:txBody>
      </p:sp>
      <p:sp>
        <p:nvSpPr>
          <p:cNvPr id="3" name="Text 1"/>
          <p:cNvSpPr/>
          <p:nvPr>
            <p:ph type="title"/>
          </p:nvPr>
        </p:nvSpPr>
        <p:spPr>
          <a:xfrm>
            <a:off x="812800" y="13486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Find what leaks: Macie, GuardDuty, DLP</a:t>
            </a:r>
            <a:endParaRPr lang="en-US" sz="3600" dirty="0"/>
          </a:p>
        </p:txBody>
      </p:sp>
      <p:sp>
        <p:nvSpPr>
          <p:cNvPr id="4" name="Text 2"/>
          <p:cNvSpPr/>
          <p:nvPr/>
        </p:nvSpPr>
        <p:spPr>
          <a:xfrm>
            <a:off x="883920" y="2156321"/>
            <a:ext cx="5781548"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Macie job at 100% sampling + custom EmployeeID identifier</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GuardDuty S3 Protection; sample findings explained</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EventBridge → SNS email for high findings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DLP plan: prevent · detect · respond · measure</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Compliance matrix with an evidence link per row</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Risk register with owners and treatments</a:t>
            </a:r>
            <a:endParaRPr lang="en-US" sz="1500" dirty="0"/>
          </a:p>
        </p:txBody>
      </p:sp>
      <p:sp>
        <p:nvSpPr>
          <p:cNvPr id="5" name="Shape 3"/>
          <p:cNvSpPr/>
          <p:nvPr/>
        </p:nvSpPr>
        <p:spPr>
          <a:xfrm>
            <a:off x="6807200" y="2156321"/>
            <a:ext cx="4572000" cy="2572742"/>
          </a:xfrm>
          <a:prstGeom prst="roundRect">
            <a:avLst>
              <a:gd name="adj" fmla="val 3949"/>
            </a:avLst>
          </a:prstGeom>
          <a:solidFill>
            <a:srgbClr val="0F1E33"/>
          </a:solidFill>
          <a:ln/>
        </p:spPr>
      </p:sp>
      <p:sp>
        <p:nvSpPr>
          <p:cNvPr id="6" name="Text 4"/>
          <p:cNvSpPr/>
          <p:nvPr/>
        </p:nvSpPr>
        <p:spPr>
          <a:xfrm>
            <a:off x="7061200" y="2410321"/>
            <a:ext cx="41859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9A2E"/>
                </a:solidFill>
                <a:latin typeface="IBM Plex Sans" pitchFamily="34" charset="0"/>
                <a:ea typeface="IBM Plex Sans" pitchFamily="34" charset="-122"/>
                <a:cs typeface="IBM Plex Sans" pitchFamily="34" charset="-120"/>
              </a:rPr>
              <a:t>The planted mistake</a:t>
            </a:r>
            <a:endParaRPr lang="en-US" sz="1400" dirty="0"/>
          </a:p>
        </p:txBody>
      </p:sp>
      <p:sp>
        <p:nvSpPr>
          <p:cNvPr id="7" name="Text 5"/>
          <p:cNvSpPr/>
          <p:nvPr/>
        </p:nvSpPr>
        <p:spPr>
          <a:xfrm>
            <a:off x="7061200" y="2725241"/>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3F5F1"/>
                </a:solidFill>
                <a:latin typeface="IBM Plex Sans" pitchFamily="34" charset="0"/>
                <a:ea typeface="IBM Plex Sans" pitchFamily="34" charset="-122"/>
                <a:cs typeface="IBM Plex Sans" pitchFamily="34" charset="-120"/>
              </a:rPr>
              <a:t>We hid card numbers inside </a:t>
            </a:r>
            <a:r>
              <a:rPr lang="en-US" sz="1400" dirty="0">
                <a:solidFill>
                  <a:srgbClr val="F29A2E"/>
                </a:solidFill>
                <a:latin typeface="IBM Plex Sans" pitchFamily="34" charset="0"/>
                <a:ea typeface="IBM Plex Sans" pitchFamily="34" charset="-122"/>
                <a:cs typeface="IBM Plex Sans" pitchFamily="34" charset="-120"/>
              </a:rPr>
              <a:t>internal/notes-export.csv</a:t>
            </a:r>
            <a:r>
              <a:rPr lang="en-US" sz="1400" dirty="0">
                <a:solidFill>
                  <a:srgbClr val="F3F5F1"/>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7061200" y="3342382"/>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3F5F1"/>
                </a:solidFill>
                <a:latin typeface="IBM Plex Sans" pitchFamily="34" charset="0"/>
                <a:ea typeface="IBM Plex Sans" pitchFamily="34" charset="-122"/>
                <a:cs typeface="IBM Plex Sans" pitchFamily="34" charset="-120"/>
              </a:rPr>
              <a:t>Macie flagged CREDIT_CARD_NUMBER in an "Internal" file.</a:t>
            </a:r>
            <a:endParaRPr lang="en-US" sz="1400" dirty="0"/>
          </a:p>
        </p:txBody>
      </p:sp>
      <p:sp>
        <p:nvSpPr>
          <p:cNvPr id="9" name="Text 7"/>
          <p:cNvSpPr/>
          <p:nvPr/>
        </p:nvSpPr>
        <p:spPr>
          <a:xfrm>
            <a:off x="7061200" y="3959523"/>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8FD3B6"/>
                </a:solidFill>
                <a:latin typeface="IBM Plex Sans" pitchFamily="34" charset="0"/>
                <a:ea typeface="IBM Plex Sans" pitchFamily="34" charset="-122"/>
                <a:cs typeface="IBM Plex Sans" pitchFamily="34" charset="-120"/>
              </a:rPr>
              <a:t>Fix: moved to restricted/, re-tagged, access logs reviewed, logged as risk R-01.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9A2E"/>
                </a:solidFill>
                <a:latin typeface="JetBrains Mono" pitchFamily="49" charset="0"/>
                <a:ea typeface="JetBrains Mono" pitchFamily="49" charset="-122"/>
                <a:cs typeface="JetBrains Mono" pitchFamily="49" charset="-120"/>
              </a:rPr>
              <a:t>LIVE DEMO · THE API ANSWERS FOR ITSELF</a:t>
            </a:r>
            <a:endParaRPr lang="en-US" sz="1300" dirty="0"/>
          </a:p>
        </p:txBody>
      </p:sp>
      <p:sp>
        <p:nvSpPr>
          <p:cNvPr id="3" name="Shape 1"/>
          <p:cNvSpPr/>
          <p:nvPr/>
        </p:nvSpPr>
        <p:spPr>
          <a:xfrm>
            <a:off x="812800" y="1462980"/>
            <a:ext cx="2489200" cy="0"/>
          </a:xfrm>
          <a:prstGeom prst="line">
            <a:avLst/>
          </a:prstGeom>
          <a:noFill/>
          <a:ln w="25400">
            <a:solidFill>
              <a:srgbClr val="F29A2E"/>
            </a:solidFill>
            <a:prstDash val="solid"/>
          </a:ln>
        </p:spPr>
      </p:sp>
      <p:sp>
        <p:nvSpPr>
          <p:cNvPr id="4" name="Text 2"/>
          <p:cNvSpPr/>
          <p:nvPr/>
        </p:nvSpPr>
        <p:spPr>
          <a:xfrm>
            <a:off x="812800" y="167888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9A2E"/>
                </a:solidFill>
                <a:latin typeface="JetBrains Mono" pitchFamily="49" charset="0"/>
                <a:ea typeface="JetBrains Mono" pitchFamily="49" charset="-122"/>
                <a:cs typeface="JetBrains Mono" pitchFamily="49" charset="-120"/>
              </a:rPr>
              <a:t>401</a:t>
            </a:r>
            <a:endParaRPr lang="en-US" sz="6000" dirty="0"/>
          </a:p>
        </p:txBody>
      </p:sp>
      <p:sp>
        <p:nvSpPr>
          <p:cNvPr id="5" name="Text 3"/>
          <p:cNvSpPr/>
          <p:nvPr/>
        </p:nvSpPr>
        <p:spPr>
          <a:xfrm>
            <a:off x="812800" y="2542480"/>
            <a:ext cx="25638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3D3"/>
                </a:solidFill>
                <a:latin typeface="IBM Plex Sans" pitchFamily="34" charset="0"/>
                <a:ea typeface="IBM Plex Sans" pitchFamily="34" charset="-122"/>
                <a:cs typeface="IBM Plex Sans" pitchFamily="34" charset="-120"/>
              </a:rPr>
              <a:t>No token — Cognito rejects the call</a:t>
            </a:r>
            <a:endParaRPr lang="en-US" sz="1500" dirty="0"/>
          </a:p>
        </p:txBody>
      </p:sp>
      <p:sp>
        <p:nvSpPr>
          <p:cNvPr id="6" name="Shape 4"/>
          <p:cNvSpPr/>
          <p:nvPr/>
        </p:nvSpPr>
        <p:spPr>
          <a:xfrm>
            <a:off x="3505200" y="1462980"/>
            <a:ext cx="2489200" cy="0"/>
          </a:xfrm>
          <a:prstGeom prst="line">
            <a:avLst/>
          </a:prstGeom>
          <a:noFill/>
          <a:ln w="25400">
            <a:solidFill>
              <a:srgbClr val="8FD3B6"/>
            </a:solidFill>
            <a:prstDash val="solid"/>
          </a:ln>
        </p:spPr>
      </p:sp>
      <p:sp>
        <p:nvSpPr>
          <p:cNvPr id="7" name="Text 5"/>
          <p:cNvSpPr/>
          <p:nvPr/>
        </p:nvSpPr>
        <p:spPr>
          <a:xfrm>
            <a:off x="3505200" y="167888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8FD3B6"/>
                </a:solidFill>
                <a:latin typeface="JetBrains Mono" pitchFamily="49" charset="0"/>
                <a:ea typeface="JetBrains Mono" pitchFamily="49" charset="-122"/>
                <a:cs typeface="JetBrains Mono" pitchFamily="49" charset="-120"/>
              </a:rPr>
              <a:t>200</a:t>
            </a:r>
            <a:endParaRPr lang="en-US" sz="6000" dirty="0"/>
          </a:p>
        </p:txBody>
      </p:sp>
      <p:sp>
        <p:nvSpPr>
          <p:cNvPr id="8" name="Text 6"/>
          <p:cNvSpPr/>
          <p:nvPr/>
        </p:nvSpPr>
        <p:spPr>
          <a:xfrm>
            <a:off x="3505200" y="2542480"/>
            <a:ext cx="25638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3D3"/>
                </a:solidFill>
                <a:latin typeface="IBM Plex Sans" pitchFamily="34" charset="0"/>
                <a:ea typeface="IBM Plex Sans" pitchFamily="34" charset="-122"/>
                <a:cs typeface="IBM Plex Sans" pitchFamily="34" charset="-120"/>
              </a:rPr>
              <a:t>Valid token — data returned, no PII</a:t>
            </a:r>
            <a:endParaRPr lang="en-US" sz="1500" dirty="0"/>
          </a:p>
        </p:txBody>
      </p:sp>
      <p:sp>
        <p:nvSpPr>
          <p:cNvPr id="9" name="Shape 7"/>
          <p:cNvSpPr/>
          <p:nvPr/>
        </p:nvSpPr>
        <p:spPr>
          <a:xfrm>
            <a:off x="6197600" y="1462980"/>
            <a:ext cx="2489200" cy="0"/>
          </a:xfrm>
          <a:prstGeom prst="line">
            <a:avLst/>
          </a:prstGeom>
          <a:noFill/>
          <a:ln w="25400">
            <a:solidFill>
              <a:srgbClr val="F29A2E"/>
            </a:solidFill>
            <a:prstDash val="solid"/>
          </a:ln>
        </p:spPr>
      </p:sp>
      <p:sp>
        <p:nvSpPr>
          <p:cNvPr id="10" name="Text 8"/>
          <p:cNvSpPr/>
          <p:nvPr/>
        </p:nvSpPr>
        <p:spPr>
          <a:xfrm>
            <a:off x="6197600" y="167888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9A2E"/>
                </a:solidFill>
                <a:latin typeface="JetBrains Mono" pitchFamily="49" charset="0"/>
                <a:ea typeface="JetBrains Mono" pitchFamily="49" charset="-122"/>
                <a:cs typeface="JetBrains Mono" pitchFamily="49" charset="-120"/>
              </a:rPr>
              <a:t>429</a:t>
            </a:r>
            <a:endParaRPr lang="en-US" sz="6000" dirty="0"/>
          </a:p>
        </p:txBody>
      </p:sp>
      <p:sp>
        <p:nvSpPr>
          <p:cNvPr id="11" name="Text 9"/>
          <p:cNvSpPr/>
          <p:nvPr/>
        </p:nvSpPr>
        <p:spPr>
          <a:xfrm>
            <a:off x="6197600" y="2542480"/>
            <a:ext cx="2563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3D3"/>
                </a:solidFill>
                <a:latin typeface="IBM Plex Sans" pitchFamily="34" charset="0"/>
                <a:ea typeface="IBM Plex Sans" pitchFamily="34" charset="-122"/>
                <a:cs typeface="IBM Plex Sans" pitchFamily="34" charset="-120"/>
              </a:rPr>
              <a:t>60-request burst — throttled</a:t>
            </a:r>
            <a:endParaRPr lang="en-US" sz="1500" dirty="0"/>
          </a:p>
        </p:txBody>
      </p:sp>
      <p:sp>
        <p:nvSpPr>
          <p:cNvPr id="12" name="Shape 10"/>
          <p:cNvSpPr/>
          <p:nvPr/>
        </p:nvSpPr>
        <p:spPr>
          <a:xfrm>
            <a:off x="8890000" y="1462980"/>
            <a:ext cx="2489200" cy="0"/>
          </a:xfrm>
          <a:prstGeom prst="line">
            <a:avLst/>
          </a:prstGeom>
          <a:noFill/>
          <a:ln w="25400">
            <a:solidFill>
              <a:srgbClr val="F29A2E"/>
            </a:solidFill>
            <a:prstDash val="solid"/>
          </a:ln>
        </p:spPr>
      </p:sp>
      <p:sp>
        <p:nvSpPr>
          <p:cNvPr id="13" name="Text 11"/>
          <p:cNvSpPr/>
          <p:nvPr/>
        </p:nvSpPr>
        <p:spPr>
          <a:xfrm>
            <a:off x="8890000" y="167888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9A2E"/>
                </a:solidFill>
                <a:latin typeface="JetBrains Mono" pitchFamily="49" charset="0"/>
                <a:ea typeface="JetBrains Mono" pitchFamily="49" charset="-122"/>
                <a:cs typeface="JetBrains Mono" pitchFamily="49" charset="-120"/>
              </a:rPr>
              <a:t>403</a:t>
            </a:r>
            <a:endParaRPr lang="en-US" sz="6000" dirty="0"/>
          </a:p>
        </p:txBody>
      </p:sp>
      <p:sp>
        <p:nvSpPr>
          <p:cNvPr id="14" name="Text 12"/>
          <p:cNvSpPr/>
          <p:nvPr/>
        </p:nvSpPr>
        <p:spPr>
          <a:xfrm>
            <a:off x="8890000" y="2542480"/>
            <a:ext cx="25638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3D3"/>
                </a:solidFill>
                <a:latin typeface="IBM Plex Sans" pitchFamily="34" charset="0"/>
                <a:ea typeface="IBM Plex Sans" pitchFamily="34" charset="-122"/>
                <a:cs typeface="IBM Plex Sans" pitchFamily="34" charset="-120"/>
              </a:rPr>
              <a:t>XSS payload — blocked by AWS WAF</a:t>
            </a:r>
            <a:endParaRPr lang="en-US" sz="1500" dirty="0"/>
          </a:p>
        </p:txBody>
      </p:sp>
      <p:sp>
        <p:nvSpPr>
          <p:cNvPr id="15" name="Text 13"/>
          <p:cNvSpPr/>
          <p:nvPr/>
        </p:nvSpPr>
        <p:spPr>
          <a:xfrm>
            <a:off x="812800" y="34822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1"/>
                </a:solidFill>
                <a:latin typeface="IBM Plex Sans" pitchFamily="34" charset="0"/>
                <a:ea typeface="IBM Plex Sans" pitchFamily="34" charset="-122"/>
                <a:cs typeface="IBM Plex Sans" pitchFamily="34" charset="-120"/>
              </a:rPr>
              <a:t>Plus: wrong-encryption upload denied · HTTP refused · disabled key can't decrypt · alarm email received.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33"/>
                </a:solidFill>
                <a:latin typeface="IBM Plex Sans" pitchFamily="34" charset="0"/>
                <a:ea typeface="IBM Plex Sans" pitchFamily="34" charset="-122"/>
                <a:cs typeface="IBM Plex Sans" pitchFamily="34" charset="-120"/>
              </a:rPr>
              <a:t>Controls mapped to GDPR, HIPAA and PCI DSS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2514898"/>
        </p:xfrm>
        <a:graphic>
          <a:graphicData uri="http://schemas.openxmlformats.org/drawingml/2006/table">
            <a:tbl>
              <a:tblPr/>
              <a:tblGrid>
                <a:gridCol w="3166110"/>
                <a:gridCol w="1688592"/>
                <a:gridCol w="2321814"/>
                <a:gridCol w="1266444"/>
                <a:gridCol w="2110740"/>
              </a:tblGrid>
              <a:tr h="359271">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Control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GDPR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HIPAA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PCI DSS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Classification &amp; inventory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164.308(a)(1)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12.5.2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Implemented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Encryption at 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32(1)(a)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164.312(a)(2)(iv)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Implemented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Encryption in transit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32(1)(a)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164.312(e)(1)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Implemented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Least privilege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25, 32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164.312(a)(1)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Partial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Audit logging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5(2), 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164.312(b)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Implemented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Threat detection &amp; response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Art. 33, 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164.308(a)(6)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10.4, 12.10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Implemented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"Mapped to", not "compliant": fake data in a lab cannot be certified. Full matrix: week-4-compliance/compliance-matrix.xlsx</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33"/>
                </a:solidFill>
                <a:latin typeface="IBM Plex Sans" pitchFamily="34" charset="0"/>
                <a:ea typeface="IBM Plex Sans" pitchFamily="34" charset="-122"/>
                <a:cs typeface="IBM Plex Sans" pitchFamily="34" charset="-120"/>
              </a:rPr>
              <a:t>Top risks and how we treat them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2514898"/>
        </p:xfrm>
        <a:graphic>
          <a:graphicData uri="http://schemas.openxmlformats.org/drawingml/2006/table">
            <a:tbl>
              <a:tblPr/>
              <a:tblGrid>
                <a:gridCol w="844296"/>
                <a:gridCol w="4221480"/>
                <a:gridCol w="1266444"/>
                <a:gridCol w="4221480"/>
              </a:tblGrid>
              <a:tr h="359271">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c>
                  <a:txBody>
                    <a:bodyPr/>
                    <a:lstStyle/>
                    <a:p>
                      <a:pPr indent="0" marL="0">
                        <a:lnSpc>
                          <a:spcPts val="1820"/>
                        </a:lnSpc>
                        <a:buNone/>
                      </a:pPr>
                      <a:r>
                        <a:rPr lang="en-US" sz="1300" b="1" dirty="0">
                          <a:solidFill>
                            <a:srgbClr val="F3F5F1"/>
                          </a:solidFill>
                          <a:latin typeface="IBM Plex Sans" pitchFamily="34" charset="0"/>
                          <a:ea typeface="IBM Plex Sans" pitchFamily="34" charset="-122"/>
                          <a:cs typeface="IBM Plex Sans" pitchFamily="34" charset="-120"/>
                        </a:rPr>
                        <a:t>Treatment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C2C"/>
                      </a:solidFill>
                      <a:prstDash val="solid"/>
                      <a:round/>
                      <a:headEnd type="none" w="med" len="med"/>
                      <a:tailEnd type="none" w="med" len="med"/>
                    </a:lnL>
                    <a:lnR w="12700" cap="flat" cmpd="sng" algn="ctr">
                      <a:solidFill>
                        <a:srgbClr val="101C2C"/>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01C2C"/>
                      </a:solidFill>
                      <a:prstDash val="solid"/>
                      <a:round/>
                      <a:headEnd type="none" w="med" len="med"/>
                      <a:tailEnd type="none" w="med" len="med"/>
                    </a:lnB>
                    <a:solidFill>
                      <a:srgbClr val="0F1E33"/>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Sensitive data in a lower-classified place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16 · High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Reduce: recurring Macie discovery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101C2C"/>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Secrets pushed to GitHub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15 · High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Reduce: CloudShell only, push protection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AdministratorAccess for all lab members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12 · 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Accept (lab only): MFA, CloudTrail, teardown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PII exposed in logs or API responses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12 · 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Reduce: no PII returned, safe log lines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Bucket made public by mistake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10 · 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Reduce: BPA, Access Analyzer, alert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2C4C0"/>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2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KMS key deleted → data unrecoverable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10 · 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c>
                  <a:txBody>
                    <a:bodyPr/>
                    <a:lstStyle/>
                    <a:p>
                      <a:pPr indent="0" marL="0">
                        <a:lnSpc>
                          <a:spcPts val="1820"/>
                        </a:lnSpc>
                        <a:buNone/>
                      </a:pPr>
                      <a:r>
                        <a:rPr lang="en-US" sz="1300" dirty="0">
                          <a:solidFill>
                            <a:srgbClr val="0F1E33"/>
                          </a:solidFill>
                          <a:latin typeface="IBM Plex Sans" pitchFamily="34" charset="0"/>
                          <a:ea typeface="IBM Plex Sans" pitchFamily="34" charset="-122"/>
                          <a:cs typeface="IBM Plex Sans" pitchFamily="34" charset="-120"/>
                        </a:rPr>
                        <a:t>Reduce: separation of duties, 7–30 day wait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8ECF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E33"/>
                </a:solidFill>
                <a:latin typeface="IBM Plex Sans" pitchFamily="34" charset="0"/>
                <a:ea typeface="IBM Plex Sans" pitchFamily="34" charset="-122"/>
                <a:cs typeface="IBM Plex Sans" pitchFamily="34" charset="-120"/>
              </a:rPr>
              <a:t>Honest limits, and what production needs</a:t>
            </a:r>
            <a:endParaRPr lang="en-US" sz="3600" dirty="0"/>
          </a:p>
        </p:txBody>
      </p:sp>
      <p:sp>
        <p:nvSpPr>
          <p:cNvPr id="3" name="Shape 1"/>
          <p:cNvSpPr/>
          <p:nvPr/>
        </p:nvSpPr>
        <p:spPr>
          <a:xfrm>
            <a:off x="815975" y="1623616"/>
            <a:ext cx="5130800" cy="2160191"/>
          </a:xfrm>
          <a:prstGeom prst="roundRect">
            <a:avLst>
              <a:gd name="adj" fmla="val 4556"/>
            </a:avLst>
          </a:prstGeom>
          <a:solidFill>
            <a:srgbClr val="FFFFFF"/>
          </a:solidFill>
          <a:ln w="6350">
            <a:solidFill>
              <a:srgbClr val="D8DDE4"/>
            </a:solidFill>
            <a:prstDash val="solid"/>
          </a:ln>
        </p:spPr>
      </p:sp>
      <p:sp>
        <p:nvSpPr>
          <p:cNvPr id="4" name="Text 2"/>
          <p:cNvSpPr/>
          <p:nvPr/>
        </p:nvSpPr>
        <p:spPr>
          <a:xfrm>
            <a:off x="1123950" y="1931591"/>
            <a:ext cx="465029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651D"/>
                </a:solidFill>
                <a:latin typeface="IBM Plex Sans" pitchFamily="34" charset="0"/>
                <a:ea typeface="IBM Plex Sans" pitchFamily="34" charset="-122"/>
                <a:cs typeface="IBM Plex Sans" pitchFamily="34" charset="-120"/>
              </a:rPr>
              <a:t>Limits of this lab</a:t>
            </a:r>
            <a:endParaRPr lang="en-US" sz="1800" dirty="0"/>
          </a:p>
        </p:txBody>
      </p:sp>
      <p:sp>
        <p:nvSpPr>
          <p:cNvPr id="5" name="Text 3"/>
          <p:cNvSpPr/>
          <p:nvPr/>
        </p:nvSpPr>
        <p:spPr>
          <a:xfrm>
            <a:off x="1195070" y="2332831"/>
            <a:ext cx="4571555"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Fake data, one account, four weeks</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Broad admin access for the team</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CloudHSM, VPN, VPC endpoints: design only</a:t>
            </a:r>
            <a:endParaRPr lang="en-US" sz="1500" dirty="0"/>
          </a:p>
          <a:p>
            <a:pPr algn="l" marL="182880" indent="-182880">
              <a:lnSpc>
                <a:spcPts val="2250"/>
              </a:lnSpc>
              <a:buSzPct val="100000"/>
              <a:buChar char="•"/>
            </a:pPr>
            <a:r>
              <a:rPr lang="en-US" sz="1500" dirty="0">
                <a:solidFill>
                  <a:srgbClr val="2D3A4D"/>
                </a:solidFill>
                <a:latin typeface="IBM Plex Sans" pitchFamily="34" charset="0"/>
                <a:ea typeface="IBM Plex Sans" pitchFamily="34" charset="-122"/>
                <a:cs typeface="IBM Plex Sans" pitchFamily="34" charset="-120"/>
              </a:rPr>
              <a:t>GuardDuty findings are samples</a:t>
            </a:r>
            <a:endParaRPr lang="en-US" sz="1500" dirty="0"/>
          </a:p>
        </p:txBody>
      </p:sp>
      <p:sp>
        <p:nvSpPr>
          <p:cNvPr id="6" name="Shape 4"/>
          <p:cNvSpPr/>
          <p:nvPr/>
        </p:nvSpPr>
        <p:spPr>
          <a:xfrm>
            <a:off x="6254750" y="1620441"/>
            <a:ext cx="5124450" cy="2166541"/>
          </a:xfrm>
          <a:prstGeom prst="roundRect">
            <a:avLst>
              <a:gd name="adj" fmla="val 4690"/>
            </a:avLst>
          </a:prstGeom>
          <a:solidFill>
            <a:srgbClr val="0F1E33"/>
          </a:solidFill>
          <a:ln/>
        </p:spPr>
      </p:sp>
      <p:sp>
        <p:nvSpPr>
          <p:cNvPr id="7" name="Text 5"/>
          <p:cNvSpPr/>
          <p:nvPr/>
        </p:nvSpPr>
        <p:spPr>
          <a:xfrm>
            <a:off x="6559550" y="1925241"/>
            <a:ext cx="465029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9A2E"/>
                </a:solidFill>
                <a:latin typeface="IBM Plex Sans" pitchFamily="34" charset="0"/>
                <a:ea typeface="IBM Plex Sans" pitchFamily="34" charset="-122"/>
                <a:cs typeface="IBM Plex Sans" pitchFamily="34" charset="-120"/>
              </a:rPr>
              <a:t>For production</a:t>
            </a:r>
            <a:endParaRPr lang="en-US" sz="1800" dirty="0"/>
          </a:p>
        </p:txBody>
      </p:sp>
      <p:sp>
        <p:nvSpPr>
          <p:cNvPr id="8" name="Text 6"/>
          <p:cNvSpPr/>
          <p:nvPr/>
        </p:nvSpPr>
        <p:spPr>
          <a:xfrm>
            <a:off x="6630670" y="2326481"/>
            <a:ext cx="4571555"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3F5F1"/>
                </a:solidFill>
                <a:latin typeface="IBM Plex Sans" pitchFamily="34" charset="0"/>
                <a:ea typeface="IBM Plex Sans" pitchFamily="34" charset="-122"/>
                <a:cs typeface="IBM Plex Sans" pitchFamily="34" charset="-120"/>
              </a:rPr>
              <a:t>AWS Organizations + SCPs, least-privilege roles</a:t>
            </a:r>
            <a:endParaRPr lang="en-US" sz="1500" dirty="0"/>
          </a:p>
          <a:p>
            <a:pPr algn="l" marL="182880" indent="-182880">
              <a:lnSpc>
                <a:spcPts val="2250"/>
              </a:lnSpc>
              <a:buSzPct val="100000"/>
              <a:buChar char="•"/>
            </a:pPr>
            <a:r>
              <a:rPr lang="en-US" sz="1500" dirty="0">
                <a:solidFill>
                  <a:srgbClr val="F3F5F1"/>
                </a:solidFill>
                <a:latin typeface="IBM Plex Sans" pitchFamily="34" charset="0"/>
                <a:ea typeface="IBM Plex Sans" pitchFamily="34" charset="-122"/>
                <a:cs typeface="IBM Plex Sans" pitchFamily="34" charset="-120"/>
              </a:rPr>
              <a:t>Private data paths through VPC endpoints</a:t>
            </a:r>
            <a:endParaRPr lang="en-US" sz="1500" dirty="0"/>
          </a:p>
          <a:p>
            <a:pPr algn="l" marL="182880" indent="-182880">
              <a:lnSpc>
                <a:spcPts val="2250"/>
              </a:lnSpc>
              <a:buSzPct val="100000"/>
              <a:buChar char="•"/>
            </a:pPr>
            <a:r>
              <a:rPr lang="en-US" sz="1500" dirty="0">
                <a:solidFill>
                  <a:srgbClr val="F3F5F1"/>
                </a:solidFill>
                <a:latin typeface="IBM Plex Sans" pitchFamily="34" charset="0"/>
                <a:ea typeface="IBM Plex Sans" pitchFamily="34" charset="-122"/>
                <a:cs typeface="IBM Plex Sans" pitchFamily="34" charset="-120"/>
              </a:rPr>
              <a:t>Automated Macie discovery, Security Hub</a:t>
            </a:r>
            <a:endParaRPr lang="en-US" sz="1500" dirty="0"/>
          </a:p>
          <a:p>
            <a:pPr algn="l" marL="182880" indent="-182880">
              <a:lnSpc>
                <a:spcPts val="2250"/>
              </a:lnSpc>
              <a:buSzPct val="100000"/>
              <a:buChar char="•"/>
            </a:pPr>
            <a:r>
              <a:rPr lang="en-US" sz="1500" dirty="0">
                <a:solidFill>
                  <a:srgbClr val="F3F5F1"/>
                </a:solidFill>
                <a:latin typeface="IBM Plex Sans" pitchFamily="34" charset="0"/>
                <a:ea typeface="IBM Plex Sans" pitchFamily="34" charset="-122"/>
                <a:cs typeface="IBM Plex Sans" pitchFamily="34" charset="-120"/>
              </a:rPr>
              <a:t>Rotation Lambdas, infrastructure as code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9A2E"/>
          </a:solidFill>
          <a:ln/>
        </p:spPr>
      </p:sp>
      <p:sp>
        <p:nvSpPr>
          <p:cNvPr id="3" name="Text 1"/>
          <p:cNvSpPr/>
          <p:nvPr>
            <p:ph type="title"/>
          </p:nvPr>
        </p:nvSpPr>
        <p:spPr>
          <a:xfrm>
            <a:off x="812800" y="24727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5F1"/>
                </a:solidFill>
                <a:latin typeface="IBM Plex Sans" pitchFamily="34" charset="0"/>
                <a:ea typeface="IBM Plex Sans" pitchFamily="34" charset="-122"/>
                <a:cs typeface="IBM Plex Sans" pitchFamily="34" charset="-120"/>
              </a:rPr>
              <a:t>Questions?</a:t>
            </a:r>
            <a:endParaRPr lang="en-US" sz="6000" dirty="0"/>
          </a:p>
        </p:txBody>
      </p:sp>
      <p:sp>
        <p:nvSpPr>
          <p:cNvPr id="4" name="Text 2"/>
          <p:cNvSpPr/>
          <p:nvPr/>
        </p:nvSpPr>
        <p:spPr>
          <a:xfrm>
            <a:off x="812800" y="352683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7C3D3"/>
                </a:solidFill>
                <a:latin typeface="IBM Plex Sans" pitchFamily="34" charset="0"/>
                <a:ea typeface="IBM Plex Sans" pitchFamily="34" charset="-122"/>
                <a:cs typeface="IBM Plex Sans" pitchFamily="34" charset="-120"/>
              </a:rPr>
              <a:t>Every deliverable, policy and runbook is in the repository.</a:t>
            </a:r>
            <a:endParaRPr lang="en-US" sz="1800" dirty="0"/>
          </a:p>
        </p:txBody>
      </p:sp>
      <p:sp>
        <p:nvSpPr>
          <p:cNvPr id="5" name="Text 3"/>
          <p:cNvSpPr/>
          <p:nvPr/>
        </p:nvSpPr>
        <p:spPr>
          <a:xfrm>
            <a:off x="812800" y="410081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9A2E"/>
                </a:solidFill>
                <a:latin typeface="JetBrains Mono" pitchFamily="49" charset="0"/>
                <a:ea typeface="JetBrains Mono" pitchFamily="49" charset="-122"/>
                <a:cs typeface="JetBrains Mono" pitchFamily="49" charset="-120"/>
              </a:rPr>
              <a:t>github.com/Mohamed-Essam153/AWS-Data-Protection-Project</a:t>
            </a:r>
            <a:endParaRPr lang="en-US" sz="1600" dirty="0"/>
          </a:p>
        </p:txBody>
      </p:sp>
    </p:spTree>
  </p:cSld>
  <p:clrMapOvr>
    <a:masterClrMapping/>
  </p:clrMapOvr>
</p:sld>
</file>

<file path=ppt/theme/theme1.xml><?xml version="1.0" encoding="utf-8"?>
<a:theme xmlns:a="http://schemas.openxmlformats.org/drawingml/2006/main" name="AWS Data Protection, Encryption &amp; Privacy Compliance">
  <a:themeElements>
    <a:clrScheme name="AWS Data Protection, Encryption &amp; Privacy Compliance">
      <a:dk1>
        <a:srgbClr val="0F1E33"/>
      </a:dk1>
      <a:lt1>
        <a:srgbClr val="F3F5F1"/>
      </a:lt1>
      <a:dk2>
        <a:srgbClr val="485463"/>
      </a:dk2>
      <a:lt2>
        <a:srgbClr val="DCE0DE"/>
      </a:lt2>
      <a:accent1>
        <a:srgbClr val="F29A2E"/>
      </a:accent1>
      <a:accent2>
        <a:srgbClr val="B5651D"/>
      </a:accent2>
      <a:accent3>
        <a:srgbClr val="8FD3B6"/>
      </a:accent3>
      <a:accent4>
        <a:srgbClr val="B7C3D3"/>
      </a:accent4>
      <a:accent5>
        <a:srgbClr val="4A5568"/>
      </a:accent5>
      <a:accent6>
        <a:srgbClr val="2D3A4D"/>
      </a:accent6>
      <a:hlink>
        <a:srgbClr val="0563C1"/>
      </a:hlink>
      <a:folHlink>
        <a:srgbClr val="954F72"/>
      </a:folHlink>
    </a:clrScheme>
    <a:fontScheme name="AWS Data Protection, Encryption &amp; Privacy Complianc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Data Protection, Encryption &amp; Privacy Compliance</dc:title>
  <dc:subject/>
  <dc:creator/>
  <cp:lastModifiedBy/>
  <cp:revision>1</cp:revision>
  <dcterms:created xsi:type="dcterms:W3CDTF">2026-10-14T20:11:41Z</dcterms:created>
  <dcterms:modified xsi:type="dcterms:W3CDTF">2026-10-14T20:11:41Z</dcterms:modified>
</cp:coreProperties>
</file>